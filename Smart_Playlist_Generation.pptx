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8229600" cx="14630400"/>
  <p:notesSz cx="8229600" cy="14630400"/>
  <p:embeddedFontLst>
    <p:embeddedFont>
      <p:font typeface="Outfit ExtraBold"/>
      <p:bold r:id="rId26"/>
    </p:embeddedFont>
    <p:embeddedFont>
      <p:font typeface="Arim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StQ+mBCPa22ka+r8tGz3o7r7h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utfitExtraBold-bold.fntdata"/><Relationship Id="rId25" Type="http://schemas.openxmlformats.org/officeDocument/2006/relationships/slide" Target="slides/slide21.xml"/><Relationship Id="rId28" Type="http://schemas.openxmlformats.org/officeDocument/2006/relationships/font" Target="fonts/Arimo-bold.fntdata"/><Relationship Id="rId27" Type="http://schemas.openxmlformats.org/officeDocument/2006/relationships/font" Target="fonts/Arim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im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Arim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39b3e0db6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39b3e0db6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539b3e0db6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39b3e0db6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539b3e0db6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539b3e0db6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39b3e0db6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39b3e0db6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539b3e0db6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39b3e0db6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539b3e0db6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539b3e0db6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39b3e0db6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539b3e0db6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539b3e0db6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39b3e0db6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539b3e0db6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539b3e0db6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39b3e0db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39b3e0db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539b3e0db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539b3e0db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539b3e0db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539b3e0db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39b3e0db6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539b3e0db6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539b3e0db6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3302850" y="5505125"/>
            <a:ext cx="2201100" cy="12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793790" y="1719143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Smart Playlist Generation Using Clustering and Spotify Audio Features</a:t>
            </a:r>
            <a:endParaRPr b="0" i="0" sz="445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793790" y="4185642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2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 data-driven approach to automated playlist creation</a:t>
            </a:r>
            <a:endParaRPr b="0" i="0" sz="2350" u="none" cap="none" strike="noStrike"/>
          </a:p>
        </p:txBody>
      </p:sp>
      <p:sp>
        <p:nvSpPr>
          <p:cNvPr id="23" name="Google Shape;23;p1"/>
          <p:cNvSpPr/>
          <p:nvPr/>
        </p:nvSpPr>
        <p:spPr>
          <a:xfrm>
            <a:off x="793790" y="480369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2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Dataset: 5,000 Spotify tracks</a:t>
            </a:r>
            <a:endParaRPr b="0" i="0" sz="2350" u="none" cap="none" strike="noStrike"/>
          </a:p>
        </p:txBody>
      </p:sp>
      <p:sp>
        <p:nvSpPr>
          <p:cNvPr id="24" name="Google Shape;24;p1"/>
          <p:cNvSpPr/>
          <p:nvPr/>
        </p:nvSpPr>
        <p:spPr>
          <a:xfrm>
            <a:off x="793800" y="6277601"/>
            <a:ext cx="75564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1" lang="en-US" sz="2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Hassan Merai </a:t>
            </a:r>
            <a:br>
              <a:rPr b="1" i="1" lang="en-US" sz="2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0" i="1" lang="en-US" sz="2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Xuan Liu</a:t>
            </a:r>
            <a:br>
              <a:rPr b="1" i="1" lang="en-US" sz="2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0" i="1" lang="en-US" sz="2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Konul Aslanova</a:t>
            </a:r>
            <a:endParaRPr b="0" i="1" sz="23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6280190" y="161305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Project Objective</a:t>
            </a:r>
            <a:endParaRPr b="0" i="0" sz="4450" u="none" cap="none" strike="noStrike"/>
          </a:p>
        </p:txBody>
      </p:sp>
      <p:sp>
        <p:nvSpPr>
          <p:cNvPr id="32" name="Google Shape;32;p2"/>
          <p:cNvSpPr/>
          <p:nvPr/>
        </p:nvSpPr>
        <p:spPr>
          <a:xfrm>
            <a:off x="6280190" y="266199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270450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7017306" y="2739866"/>
            <a:ext cx="681930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Automatically generate playlists grouped by musical similarity</a:t>
            </a:r>
            <a:endParaRPr b="0" i="0" sz="2200" u="none" cap="none" strike="noStrike"/>
          </a:p>
        </p:txBody>
      </p:sp>
      <p:sp>
        <p:nvSpPr>
          <p:cNvPr id="35" name="Google Shape;35;p2"/>
          <p:cNvSpPr/>
          <p:nvPr/>
        </p:nvSpPr>
        <p:spPr>
          <a:xfrm>
            <a:off x="6280190" y="390215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5260" y="394466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7017306" y="3980021"/>
            <a:ext cx="668952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Ensure each playlist has between 50 and 250 songs</a:t>
            </a:r>
            <a:endParaRPr b="0" i="0" sz="2200" u="none" cap="none" strike="noStrike"/>
          </a:p>
        </p:txBody>
      </p:sp>
      <p:sp>
        <p:nvSpPr>
          <p:cNvPr id="38" name="Google Shape;38;p2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5260" y="490859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7017306" y="4943951"/>
            <a:ext cx="576262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Rely purely on audio features, not metadata</a:t>
            </a:r>
            <a:endParaRPr b="0" i="0" sz="2200" u="none" cap="none" strike="noStrike"/>
          </a:p>
        </p:txBody>
      </p:sp>
      <p:sp>
        <p:nvSpPr>
          <p:cNvPr id="41" name="Google Shape;41;p2"/>
          <p:cNvSpPr/>
          <p:nvPr/>
        </p:nvSpPr>
        <p:spPr>
          <a:xfrm>
            <a:off x="6280190" y="583001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5260" y="587252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7017306" y="5907881"/>
            <a:ext cx="681930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Prioritize musical traits that align with human listening perception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793790" y="179010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Our Approach</a:t>
            </a:r>
            <a:endParaRPr b="0" i="0" sz="4450" u="none" cap="none" strike="noStrike"/>
          </a:p>
        </p:txBody>
      </p:sp>
      <p:sp>
        <p:nvSpPr>
          <p:cNvPr id="50" name="Google Shape;50;p3"/>
          <p:cNvSpPr/>
          <p:nvPr/>
        </p:nvSpPr>
        <p:spPr>
          <a:xfrm>
            <a:off x="793790" y="2952512"/>
            <a:ext cx="170021" cy="354330"/>
          </a:xfrm>
          <a:prstGeom prst="roundRect">
            <a:avLst>
              <a:gd fmla="val 56033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303973" y="2952512"/>
            <a:ext cx="5161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Collect audio features from Spotify API</a:t>
            </a:r>
            <a:endParaRPr b="0" i="0" sz="2200" u="none" cap="none" strike="noStrike"/>
          </a:p>
        </p:txBody>
      </p:sp>
      <p:sp>
        <p:nvSpPr>
          <p:cNvPr id="52" name="Google Shape;52;p3"/>
          <p:cNvSpPr/>
          <p:nvPr/>
        </p:nvSpPr>
        <p:spPr>
          <a:xfrm>
            <a:off x="1133951" y="3533656"/>
            <a:ext cx="170021" cy="354330"/>
          </a:xfrm>
          <a:prstGeom prst="roundRect">
            <a:avLst>
              <a:gd fmla="val 56033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644134" y="3533656"/>
            <a:ext cx="5260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Normalize features using MinMaxScaler</a:t>
            </a:r>
            <a:endParaRPr b="0" i="0" sz="2200" u="none" cap="none" strike="noStrike"/>
          </a:p>
        </p:txBody>
      </p:sp>
      <p:sp>
        <p:nvSpPr>
          <p:cNvPr id="54" name="Google Shape;54;p3"/>
          <p:cNvSpPr/>
          <p:nvPr/>
        </p:nvSpPr>
        <p:spPr>
          <a:xfrm>
            <a:off x="1474232" y="4114800"/>
            <a:ext cx="170021" cy="354330"/>
          </a:xfrm>
          <a:prstGeom prst="roundRect">
            <a:avLst>
              <a:gd fmla="val 56033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984415" y="4114800"/>
            <a:ext cx="8568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Apply custom feature weights to emphasize perceptual relevance</a:t>
            </a:r>
            <a:endParaRPr b="0" i="0" sz="2200" u="none" cap="none" strike="noStrike"/>
          </a:p>
        </p:txBody>
      </p:sp>
      <p:sp>
        <p:nvSpPr>
          <p:cNvPr id="56" name="Google Shape;56;p3"/>
          <p:cNvSpPr/>
          <p:nvPr/>
        </p:nvSpPr>
        <p:spPr>
          <a:xfrm>
            <a:off x="1814513" y="4695944"/>
            <a:ext cx="170021" cy="354330"/>
          </a:xfrm>
          <a:prstGeom prst="roundRect">
            <a:avLst>
              <a:gd fmla="val 56033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324695" y="4695944"/>
            <a:ext cx="517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Perform initial clustering using KMeans</a:t>
            </a:r>
            <a:endParaRPr b="0" i="0" sz="2200" u="none" cap="none" strike="noStrike"/>
          </a:p>
        </p:txBody>
      </p:sp>
      <p:sp>
        <p:nvSpPr>
          <p:cNvPr id="58" name="Google Shape;58;p3"/>
          <p:cNvSpPr/>
          <p:nvPr/>
        </p:nvSpPr>
        <p:spPr>
          <a:xfrm>
            <a:off x="1474232" y="5277088"/>
            <a:ext cx="170021" cy="354330"/>
          </a:xfrm>
          <a:prstGeom prst="roundRect">
            <a:avLst>
              <a:gd fmla="val 56033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984415" y="5277088"/>
            <a:ext cx="9327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Re-cluster with KMeansConstrained to enforce playlist size constraints</a:t>
            </a:r>
            <a:endParaRPr b="0" i="0" sz="2200" u="none" cap="none" strike="noStrike"/>
          </a:p>
        </p:txBody>
      </p:sp>
      <p:sp>
        <p:nvSpPr>
          <p:cNvPr id="60" name="Google Shape;60;p3"/>
          <p:cNvSpPr/>
          <p:nvPr/>
        </p:nvSpPr>
        <p:spPr>
          <a:xfrm>
            <a:off x="1133951" y="5858232"/>
            <a:ext cx="170021" cy="354330"/>
          </a:xfrm>
          <a:prstGeom prst="roundRect">
            <a:avLst>
              <a:gd fmla="val 56033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644134" y="5858232"/>
            <a:ext cx="6115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Generate final playlists from resulting clusters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721638" y="566976"/>
            <a:ext cx="7189113" cy="644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050"/>
              <a:buFont typeface="Outfit ExtraBold"/>
              <a:buNone/>
            </a:pPr>
            <a:r>
              <a:rPr b="1" i="0" lang="en-US" sz="40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Initial Clustering with KMeans</a:t>
            </a:r>
            <a:endParaRPr b="0" i="0" sz="4050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721650" y="1706049"/>
            <a:ext cx="6342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24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Chose k=5 based on silhouette and inertia scores then sub-cluster</a:t>
            </a:r>
            <a:r>
              <a:rPr lang="en-US" sz="24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ing</a:t>
            </a:r>
            <a:endParaRPr b="0" i="0" sz="2400" u="none" cap="none" strike="noStrike"/>
          </a:p>
        </p:txBody>
      </p:sp>
      <p:sp>
        <p:nvSpPr>
          <p:cNvPr id="69" name="Google Shape;69;p4"/>
          <p:cNvSpPr/>
          <p:nvPr/>
        </p:nvSpPr>
        <p:spPr>
          <a:xfrm>
            <a:off x="721650" y="2989454"/>
            <a:ext cx="63420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24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Good cluster separation, but...</a:t>
            </a:r>
            <a:endParaRPr b="0" i="0" sz="2400" u="none" cap="none" strike="noStrike"/>
          </a:p>
        </p:txBody>
      </p:sp>
      <p:sp>
        <p:nvSpPr>
          <p:cNvPr id="70" name="Google Shape;70;p4"/>
          <p:cNvSpPr/>
          <p:nvPr/>
        </p:nvSpPr>
        <p:spPr>
          <a:xfrm>
            <a:off x="787500" y="3740948"/>
            <a:ext cx="6342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24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Playlist sizes became inconsistent when sub-clustered</a:t>
            </a:r>
            <a:endParaRPr b="0" i="0" sz="2400" u="none" cap="none" strike="noStrike"/>
          </a:p>
        </p:txBody>
      </p:sp>
      <p:pic>
        <p:nvPicPr>
          <p:cNvPr descr="preencoded.png" id="71" name="Google Shape;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4280" y="1752481"/>
            <a:ext cx="6342102" cy="6342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793790" y="120741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Problem</a:t>
            </a:r>
            <a:endParaRPr b="0" i="0" sz="4450" u="none" cap="none" strike="noStrike"/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8348" y="2369820"/>
            <a:ext cx="2152055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4892" y="2985849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5357217" y="2596634"/>
            <a:ext cx="338066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Inconsistent Playlist Sizes</a:t>
            </a:r>
            <a:endParaRPr b="0" i="0" sz="2200" u="none" cap="none" strike="noStrike"/>
          </a:p>
        </p:txBody>
      </p:sp>
      <p:sp>
        <p:nvSpPr>
          <p:cNvPr id="81" name="Google Shape;81;p5"/>
          <p:cNvSpPr/>
          <p:nvPr/>
        </p:nvSpPr>
        <p:spPr>
          <a:xfrm>
            <a:off x="5357217" y="3087053"/>
            <a:ext cx="345221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Not suitable for real-world playlists</a:t>
            </a:r>
            <a:endParaRPr b="0" i="0" sz="1750" u="none" cap="none" strike="noStrike"/>
          </a:p>
        </p:txBody>
      </p:sp>
      <p:sp>
        <p:nvSpPr>
          <p:cNvPr id="82" name="Google Shape;82;p5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fmla="val 625116" name="adj"/>
            </a:avLst>
          </a:prstGeom>
          <a:solidFill>
            <a:srgbClr val="BDB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2381" y="3733443"/>
            <a:ext cx="4304109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94892" y="4187547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6433304" y="3960257"/>
            <a:ext cx="283690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Required Size Control</a:t>
            </a:r>
            <a:endParaRPr b="0" i="0" sz="2200" u="none" cap="none" strike="noStrike"/>
          </a:p>
        </p:txBody>
      </p:sp>
      <p:sp>
        <p:nvSpPr>
          <p:cNvPr id="86" name="Google Shape;86;p5"/>
          <p:cNvSpPr/>
          <p:nvPr/>
        </p:nvSpPr>
        <p:spPr>
          <a:xfrm>
            <a:off x="6433304" y="4450675"/>
            <a:ext cx="328898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Needed within clustering method</a:t>
            </a:r>
            <a:endParaRPr b="0" i="0" sz="1750" u="none" cap="none" strike="noStrike"/>
          </a:p>
        </p:txBody>
      </p:sp>
      <p:sp>
        <p:nvSpPr>
          <p:cNvPr id="87" name="Google Shape;87;p5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fmla="val 625116" name="adj"/>
            </a:avLst>
          </a:prstGeom>
          <a:solidFill>
            <a:srgbClr val="BDB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6294" y="5097066"/>
            <a:ext cx="6456164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94773" y="5551170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7509272" y="53238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Feature Importance</a:t>
            </a:r>
            <a:endParaRPr b="0" i="0" sz="2200" u="none" cap="none" strike="noStrike"/>
          </a:p>
        </p:txBody>
      </p:sp>
      <p:sp>
        <p:nvSpPr>
          <p:cNvPr id="91" name="Google Shape;91;p5"/>
          <p:cNvSpPr/>
          <p:nvPr/>
        </p:nvSpPr>
        <p:spPr>
          <a:xfrm>
            <a:off x="7509272" y="5814298"/>
            <a:ext cx="37682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Better guidance for clustering needed</a:t>
            </a:r>
            <a:endParaRPr b="0" i="0" sz="1750" u="none" cap="none" strike="noStrike"/>
          </a:p>
        </p:txBody>
      </p:sp>
      <p:sp>
        <p:nvSpPr>
          <p:cNvPr id="92" name="Google Shape;92;p5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Some clusters had &lt;50 songs, others &gt;250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341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6102906" y="484346"/>
            <a:ext cx="7910989" cy="1100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450"/>
              <a:buFont typeface="Outfit ExtraBold"/>
              <a:buNone/>
            </a:pPr>
            <a:r>
              <a:rPr b="1" i="0" lang="en-US" sz="3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Solution: KMeansConstrained + Feature Weighting</a:t>
            </a:r>
            <a:endParaRPr b="0" i="0" sz="3450" u="none" cap="none" strike="noStrike"/>
          </a:p>
        </p:txBody>
      </p:sp>
      <p:sp>
        <p:nvSpPr>
          <p:cNvPr id="100" name="Google Shape;100;p6"/>
          <p:cNvSpPr/>
          <p:nvPr/>
        </p:nvSpPr>
        <p:spPr>
          <a:xfrm>
            <a:off x="6102906" y="1849398"/>
            <a:ext cx="7910989" cy="1030129"/>
          </a:xfrm>
          <a:prstGeom prst="roundRect">
            <a:avLst>
              <a:gd fmla="val 7182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286619" y="2033111"/>
            <a:ext cx="2201823" cy="275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00"/>
              <a:buFont typeface="Outfit ExtraBold"/>
              <a:buNone/>
            </a:pPr>
            <a:r>
              <a:rPr b="1" i="0" lang="en-US" sz="21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Size Constraints</a:t>
            </a:r>
            <a:endParaRPr b="0" i="0" sz="2100" u="none" cap="none" strike="noStrike"/>
          </a:p>
        </p:txBody>
      </p:sp>
      <p:sp>
        <p:nvSpPr>
          <p:cNvPr id="102" name="Google Shape;102;p6"/>
          <p:cNvSpPr/>
          <p:nvPr/>
        </p:nvSpPr>
        <p:spPr>
          <a:xfrm>
            <a:off x="6286619" y="2413873"/>
            <a:ext cx="7543562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Arimo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Supports size_min and size_max parameters</a:t>
            </a:r>
            <a:endParaRPr b="0" i="0" sz="1350" u="none" cap="none" strike="noStrike"/>
          </a:p>
        </p:txBody>
      </p:sp>
      <p:sp>
        <p:nvSpPr>
          <p:cNvPr id="103" name="Google Shape;103;p6"/>
          <p:cNvSpPr/>
          <p:nvPr/>
        </p:nvSpPr>
        <p:spPr>
          <a:xfrm>
            <a:off x="6102906" y="3055620"/>
            <a:ext cx="7910989" cy="1030129"/>
          </a:xfrm>
          <a:prstGeom prst="roundRect">
            <a:avLst>
              <a:gd fmla="val 7182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286631" y="3239325"/>
            <a:ext cx="4247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00"/>
              <a:buFont typeface="Outfit ExtraBold"/>
              <a:buNone/>
            </a:pPr>
            <a:r>
              <a:rPr b="1" i="0" lang="en-US" sz="21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Weighted Features</a:t>
            </a:r>
            <a:endParaRPr b="0" i="0" sz="2100" u="none" cap="none" strike="noStrike"/>
          </a:p>
        </p:txBody>
      </p:sp>
      <p:sp>
        <p:nvSpPr>
          <p:cNvPr id="105" name="Google Shape;105;p6"/>
          <p:cNvSpPr/>
          <p:nvPr/>
        </p:nvSpPr>
        <p:spPr>
          <a:xfrm>
            <a:off x="6286619" y="3620095"/>
            <a:ext cx="7543562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Arimo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Re-applied clustering with weighted features to reflect listening experience</a:t>
            </a:r>
            <a:endParaRPr b="0" i="0" sz="1350" u="none" cap="none" strike="noStrike"/>
          </a:p>
        </p:txBody>
      </p:sp>
      <p:sp>
        <p:nvSpPr>
          <p:cNvPr id="106" name="Google Shape;106;p6"/>
          <p:cNvSpPr/>
          <p:nvPr/>
        </p:nvSpPr>
        <p:spPr>
          <a:xfrm>
            <a:off x="6102906" y="4261842"/>
            <a:ext cx="7910989" cy="2280999"/>
          </a:xfrm>
          <a:prstGeom prst="roundRect">
            <a:avLst>
              <a:gd fmla="val 324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286631" y="4445550"/>
            <a:ext cx="43788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00"/>
              <a:buFont typeface="Outfit ExtraBold"/>
              <a:buNone/>
            </a:pPr>
            <a:r>
              <a:rPr b="1" i="0" lang="en-US" sz="21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Perceptual Emphasis</a:t>
            </a:r>
            <a:endParaRPr b="0" i="0" sz="2100" u="none" cap="none" strike="noStrike"/>
          </a:p>
        </p:txBody>
      </p:sp>
      <p:sp>
        <p:nvSpPr>
          <p:cNvPr id="108" name="Google Shape;108;p6"/>
          <p:cNvSpPr/>
          <p:nvPr/>
        </p:nvSpPr>
        <p:spPr>
          <a:xfrm>
            <a:off x="6286619" y="4826318"/>
            <a:ext cx="7543562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Arimo"/>
              <a:buChar char="•"/>
            </a:pPr>
            <a:r>
              <a:rPr b="0" i="0" lang="en-US" sz="1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Acousticness &amp; Instrumentalness (×1.5): distinguish natural vs. electronic and vocal vs. instrumental music</a:t>
            </a:r>
            <a:endParaRPr b="0" i="0" sz="1350" u="none" cap="none" strike="noStrike"/>
          </a:p>
        </p:txBody>
      </p:sp>
      <p:sp>
        <p:nvSpPr>
          <p:cNvPr id="109" name="Google Shape;109;p6"/>
          <p:cNvSpPr/>
          <p:nvPr/>
        </p:nvSpPr>
        <p:spPr>
          <a:xfrm>
            <a:off x="6286619" y="5451753"/>
            <a:ext cx="7543562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Arimo"/>
              <a:buChar char="•"/>
            </a:pPr>
            <a:r>
              <a:rPr b="0" i="0" lang="en-US" sz="1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Danceability (×1.2): emphasize rhythm</a:t>
            </a:r>
            <a:endParaRPr b="0" i="0" sz="1350" u="none" cap="none" strike="noStrike"/>
          </a:p>
        </p:txBody>
      </p:sp>
      <p:sp>
        <p:nvSpPr>
          <p:cNvPr id="110" name="Google Shape;110;p6"/>
          <p:cNvSpPr/>
          <p:nvPr/>
        </p:nvSpPr>
        <p:spPr>
          <a:xfrm>
            <a:off x="6286619" y="5795248"/>
            <a:ext cx="7543562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Arimo"/>
              <a:buChar char="•"/>
            </a:pPr>
            <a:r>
              <a:rPr b="0" i="0" lang="en-US" sz="13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Duration, Loudness, Speechiness (×0.5–0.8): reduced impact due to lower perceptual relevance</a:t>
            </a:r>
            <a:endParaRPr b="0" i="0" sz="1350" u="none" cap="none" strike="noStrike"/>
          </a:p>
        </p:txBody>
      </p:sp>
      <p:sp>
        <p:nvSpPr>
          <p:cNvPr id="111" name="Google Shape;111;p6"/>
          <p:cNvSpPr/>
          <p:nvPr/>
        </p:nvSpPr>
        <p:spPr>
          <a:xfrm>
            <a:off x="6102906" y="6718935"/>
            <a:ext cx="7910989" cy="1030129"/>
          </a:xfrm>
          <a:prstGeom prst="roundRect">
            <a:avLst>
              <a:gd fmla="val 7182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286619" y="6902648"/>
            <a:ext cx="2201823" cy="275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00"/>
              <a:buFont typeface="Outfit ExtraBold"/>
              <a:buNone/>
            </a:pPr>
            <a:r>
              <a:rPr b="1" i="0" lang="en-US" sz="21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Result</a:t>
            </a:r>
            <a:endParaRPr b="0" i="0" sz="2100" u="none" cap="none" strike="noStrike"/>
          </a:p>
        </p:txBody>
      </p:sp>
      <p:sp>
        <p:nvSpPr>
          <p:cNvPr id="113" name="Google Shape;113;p6"/>
          <p:cNvSpPr/>
          <p:nvPr/>
        </p:nvSpPr>
        <p:spPr>
          <a:xfrm>
            <a:off x="6286619" y="7283410"/>
            <a:ext cx="7543562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Arimo"/>
              <a:buNone/>
            </a:pPr>
            <a:r>
              <a:rPr b="1" i="0" lang="en-US" sz="22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45</a:t>
            </a:r>
            <a:r>
              <a:rPr b="0" i="0" lang="en-US" sz="22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balanced, perceptually meaningful playlists</a:t>
            </a:r>
            <a:endParaRPr b="0" i="0" sz="22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Features Used</a:t>
            </a:r>
            <a:endParaRPr b="0" i="0" sz="4450" u="none" cap="none" strike="noStrike"/>
          </a:p>
        </p:txBody>
      </p:sp>
      <p:sp>
        <p:nvSpPr>
          <p:cNvPr id="120" name="Google Shape;120;p7"/>
          <p:cNvSpPr/>
          <p:nvPr/>
        </p:nvSpPr>
        <p:spPr>
          <a:xfrm>
            <a:off x="1676043" y="2490311"/>
            <a:ext cx="33566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Weighted Features (High)</a:t>
            </a:r>
            <a:endParaRPr b="0" i="0" sz="2200" u="none" cap="none" strike="noStrike"/>
          </a:p>
        </p:txBody>
      </p:sp>
      <p:sp>
        <p:nvSpPr>
          <p:cNvPr id="121" name="Google Shape;121;p7"/>
          <p:cNvSpPr/>
          <p:nvPr/>
        </p:nvSpPr>
        <p:spPr>
          <a:xfrm>
            <a:off x="793790" y="2980730"/>
            <a:ext cx="423886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acousticness (1.5)</a:t>
            </a:r>
            <a:endParaRPr b="0" i="0" sz="1750" u="none" cap="none" strike="noStrike"/>
          </a:p>
        </p:txBody>
      </p:sp>
      <p:sp>
        <p:nvSpPr>
          <p:cNvPr id="122" name="Google Shape;122;p7"/>
          <p:cNvSpPr/>
          <p:nvPr/>
        </p:nvSpPr>
        <p:spPr>
          <a:xfrm>
            <a:off x="793790" y="3422928"/>
            <a:ext cx="423886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instrumentalness (1.5)</a:t>
            </a:r>
            <a:endParaRPr b="0" i="0" sz="1750" u="none" cap="none" strike="noStrike"/>
          </a:p>
        </p:txBody>
      </p:sp>
      <p:sp>
        <p:nvSpPr>
          <p:cNvPr id="123" name="Google Shape;123;p7"/>
          <p:cNvSpPr/>
          <p:nvPr/>
        </p:nvSpPr>
        <p:spPr>
          <a:xfrm>
            <a:off x="793790" y="3865126"/>
            <a:ext cx="423886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danceability (1.2)</a:t>
            </a:r>
            <a:endParaRPr b="0" i="0" sz="1750" u="none" cap="none" strike="noStrike"/>
          </a:p>
        </p:txBody>
      </p:sp>
      <p:pic>
        <p:nvPicPr>
          <p:cNvPr descr="preencoded.pn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6324362" y="3665458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500"/>
              <a:buFont typeface="Outfit ExtraBold"/>
              <a:buNone/>
            </a:pPr>
            <a:r>
              <a:rPr b="1" i="0" lang="en-US" sz="25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1</a:t>
            </a:r>
            <a:endParaRPr b="0" i="0" sz="2500" u="none" cap="none" strike="noStrike"/>
          </a:p>
        </p:txBody>
      </p:sp>
      <p:sp>
        <p:nvSpPr>
          <p:cNvPr id="126" name="Google Shape;126;p7"/>
          <p:cNvSpPr/>
          <p:nvPr/>
        </p:nvSpPr>
        <p:spPr>
          <a:xfrm>
            <a:off x="9597628" y="2490311"/>
            <a:ext cx="379356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Weighted Features (Medium)</a:t>
            </a:r>
            <a:endParaRPr b="0" i="0" sz="2200" u="none" cap="none" strike="noStrike"/>
          </a:p>
        </p:txBody>
      </p:sp>
      <p:sp>
        <p:nvSpPr>
          <p:cNvPr id="127" name="Google Shape;127;p7"/>
          <p:cNvSpPr/>
          <p:nvPr/>
        </p:nvSpPr>
        <p:spPr>
          <a:xfrm>
            <a:off x="9597628" y="2980730"/>
            <a:ext cx="42389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energy (1.0)</a:t>
            </a:r>
            <a:endParaRPr b="0" i="0" sz="1750" u="none" cap="none" strike="noStrike"/>
          </a:p>
        </p:txBody>
      </p:sp>
      <p:sp>
        <p:nvSpPr>
          <p:cNvPr id="128" name="Google Shape;128;p7"/>
          <p:cNvSpPr/>
          <p:nvPr/>
        </p:nvSpPr>
        <p:spPr>
          <a:xfrm>
            <a:off x="9597628" y="3422928"/>
            <a:ext cx="42389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valence (1.0)</a:t>
            </a:r>
            <a:endParaRPr b="0" i="0" sz="1750" u="none" cap="none" strike="noStrike"/>
          </a:p>
        </p:txBody>
      </p:sp>
      <p:sp>
        <p:nvSpPr>
          <p:cNvPr id="129" name="Google Shape;129;p7"/>
          <p:cNvSpPr/>
          <p:nvPr/>
        </p:nvSpPr>
        <p:spPr>
          <a:xfrm>
            <a:off x="9597628" y="3865126"/>
            <a:ext cx="42389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tempo (1.0)</a:t>
            </a:r>
            <a:endParaRPr b="0" i="0" sz="1750" u="none" cap="none" strike="noStrike"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7986713" y="3665458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500"/>
              <a:buFont typeface="Outfit ExtraBold"/>
              <a:buNone/>
            </a:pPr>
            <a:r>
              <a:rPr b="1" i="0" lang="en-US" sz="25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2</a:t>
            </a:r>
            <a:endParaRPr b="0" i="0" sz="2500" u="none" cap="none" strike="noStrike"/>
          </a:p>
        </p:txBody>
      </p:sp>
      <p:sp>
        <p:nvSpPr>
          <p:cNvPr id="132" name="Google Shape;132;p7"/>
          <p:cNvSpPr/>
          <p:nvPr/>
        </p:nvSpPr>
        <p:spPr>
          <a:xfrm>
            <a:off x="9597628" y="4721781"/>
            <a:ext cx="32780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Weighted Features (Low)</a:t>
            </a:r>
            <a:endParaRPr b="0" i="0" sz="2200" u="none" cap="none" strike="noStrike"/>
          </a:p>
        </p:txBody>
      </p:sp>
      <p:sp>
        <p:nvSpPr>
          <p:cNvPr id="133" name="Google Shape;133;p7"/>
          <p:cNvSpPr/>
          <p:nvPr/>
        </p:nvSpPr>
        <p:spPr>
          <a:xfrm>
            <a:off x="9597628" y="5212199"/>
            <a:ext cx="42389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speechiness (0.8)</a:t>
            </a:r>
            <a:endParaRPr b="0" i="0" sz="1750" u="none" cap="none" strike="noStrike"/>
          </a:p>
        </p:txBody>
      </p:sp>
      <p:sp>
        <p:nvSpPr>
          <p:cNvPr id="134" name="Google Shape;134;p7"/>
          <p:cNvSpPr/>
          <p:nvPr/>
        </p:nvSpPr>
        <p:spPr>
          <a:xfrm>
            <a:off x="9597628" y="5654397"/>
            <a:ext cx="42389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loudness (0.8)</a:t>
            </a:r>
            <a:endParaRPr b="0" i="0" sz="1750" u="none" cap="none" strike="noStrike"/>
          </a:p>
        </p:txBody>
      </p:sp>
      <p:sp>
        <p:nvSpPr>
          <p:cNvPr id="135" name="Google Shape;135;p7"/>
          <p:cNvSpPr/>
          <p:nvPr/>
        </p:nvSpPr>
        <p:spPr>
          <a:xfrm>
            <a:off x="9597628" y="6096595"/>
            <a:ext cx="42389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liveness (0.7)</a:t>
            </a:r>
            <a:endParaRPr b="0" i="0" sz="1750" u="none" cap="none" strike="noStrike"/>
          </a:p>
        </p:txBody>
      </p:sp>
      <p:sp>
        <p:nvSpPr>
          <p:cNvPr id="136" name="Google Shape;136;p7"/>
          <p:cNvSpPr/>
          <p:nvPr/>
        </p:nvSpPr>
        <p:spPr>
          <a:xfrm>
            <a:off x="9597628" y="6538793"/>
            <a:ext cx="42389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duration_ms (0.5)</a:t>
            </a:r>
            <a:endParaRPr b="0" i="0" sz="1750" u="none" cap="none" strike="noStrike"/>
          </a:p>
        </p:txBody>
      </p:sp>
      <p:pic>
        <p:nvPicPr>
          <p:cNvPr descr="preencoded.png" id="137" name="Google Shape;13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7986713" y="5327809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500"/>
              <a:buFont typeface="Outfit ExtraBold"/>
              <a:buNone/>
            </a:pPr>
            <a:r>
              <a:rPr b="1" i="0" lang="en-US" sz="25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3</a:t>
            </a:r>
            <a:endParaRPr b="0" i="0" sz="2500" u="none" cap="none" strike="noStrike"/>
          </a:p>
        </p:txBody>
      </p:sp>
      <p:sp>
        <p:nvSpPr>
          <p:cNvPr id="139" name="Google Shape;139;p7"/>
          <p:cNvSpPr/>
          <p:nvPr/>
        </p:nvSpPr>
        <p:spPr>
          <a:xfrm>
            <a:off x="2197418" y="48010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Dropped Features</a:t>
            </a:r>
            <a:endParaRPr b="0" i="0" sz="2200" u="none" cap="none" strike="noStrike"/>
          </a:p>
        </p:txBody>
      </p:sp>
      <p:sp>
        <p:nvSpPr>
          <p:cNvPr id="140" name="Google Shape;140;p7"/>
          <p:cNvSpPr/>
          <p:nvPr/>
        </p:nvSpPr>
        <p:spPr>
          <a:xfrm>
            <a:off x="793790" y="5291495"/>
            <a:ext cx="42388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key, mode, time_signature (low variance)</a:t>
            </a:r>
            <a:endParaRPr b="0" i="0" sz="1750" u="none" cap="none" strike="noStrike"/>
          </a:p>
        </p:txBody>
      </p:sp>
      <p:sp>
        <p:nvSpPr>
          <p:cNvPr id="141" name="Google Shape;141;p7"/>
          <p:cNvSpPr/>
          <p:nvPr/>
        </p:nvSpPr>
        <p:spPr>
          <a:xfrm>
            <a:off x="793790" y="6096595"/>
            <a:ext cx="42388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Char char="•"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artist, genre, song_name (non-numeric)</a:t>
            </a:r>
            <a:endParaRPr b="0" i="0" sz="1750" u="none" cap="none" strike="noStrike"/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6324362" y="5327809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500"/>
              <a:buFont typeface="Outfit ExtraBold"/>
              <a:buNone/>
            </a:pPr>
            <a:r>
              <a:rPr b="1" i="0" lang="en-US" sz="25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4</a:t>
            </a:r>
            <a:endParaRPr b="0" i="0" sz="2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793790" y="74426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Playlist Examples</a:t>
            </a:r>
            <a:endParaRPr b="0" i="0" sz="4450" u="none" cap="none" strike="noStrike"/>
          </a:p>
        </p:txBody>
      </p:sp>
      <p:pic>
        <p:nvPicPr>
          <p:cNvPr descr="preencoded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906667"/>
            <a:ext cx="6379607" cy="394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93790" y="61330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Playlist 1 (Cluster 22)</a:t>
            </a:r>
            <a:endParaRPr b="0" i="0" sz="2200" u="none" cap="none" strike="noStrike"/>
          </a:p>
        </p:txBody>
      </p:sp>
      <p:sp>
        <p:nvSpPr>
          <p:cNvPr id="152" name="Google Shape;152;p8"/>
          <p:cNvSpPr/>
          <p:nvPr/>
        </p:nvSpPr>
        <p:spPr>
          <a:xfrm>
            <a:off x="793790" y="6623447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High danceability, mid-tempo, high valence</a:t>
            </a:r>
            <a:endParaRPr b="0" i="0" sz="1750" u="none" cap="none" strike="noStrike"/>
          </a:p>
        </p:txBody>
      </p:sp>
      <p:sp>
        <p:nvSpPr>
          <p:cNvPr id="153" name="Google Shape;153;p8"/>
          <p:cNvSpPr/>
          <p:nvPr/>
        </p:nvSpPr>
        <p:spPr>
          <a:xfrm>
            <a:off x="793790" y="7122438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Feels like a summer chill playlist</a:t>
            </a:r>
            <a:endParaRPr b="0" i="0" sz="1750" u="none" cap="none" strike="noStrike"/>
          </a:p>
        </p:txBody>
      </p:sp>
      <p:pic>
        <p:nvPicPr>
          <p:cNvPr descr="preencoded.png" id="154" name="Google Shape;1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884" y="1906667"/>
            <a:ext cx="6379726" cy="394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7456884" y="61330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Playlist 2 (Cluster 14)</a:t>
            </a:r>
            <a:endParaRPr b="0" i="0" sz="2200" u="none" cap="none" strike="noStrike"/>
          </a:p>
        </p:txBody>
      </p:sp>
      <p:sp>
        <p:nvSpPr>
          <p:cNvPr id="156" name="Google Shape;156;p8"/>
          <p:cNvSpPr/>
          <p:nvPr/>
        </p:nvSpPr>
        <p:spPr>
          <a:xfrm>
            <a:off x="7456884" y="6623447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Low energy, high acousticness</a:t>
            </a:r>
            <a:endParaRPr b="0" i="0" sz="1750" u="none" cap="none" strike="noStrike"/>
          </a:p>
        </p:txBody>
      </p:sp>
      <p:sp>
        <p:nvSpPr>
          <p:cNvPr id="157" name="Google Shape;157;p8"/>
          <p:cNvSpPr/>
          <p:nvPr/>
        </p:nvSpPr>
        <p:spPr>
          <a:xfrm>
            <a:off x="7456884" y="7122438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Ideal for studying or relaxation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6215658" y="664726"/>
            <a:ext cx="7685484" cy="130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100"/>
              <a:buFont typeface="Outfit ExtraBold"/>
              <a:buNone/>
            </a:pPr>
            <a:r>
              <a:rPr b="1" i="0" lang="en-US" sz="41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Are Spotify Features Human-Meaningful?</a:t>
            </a:r>
            <a:endParaRPr b="0" i="0" sz="4100" u="none" cap="none" strike="noStrike"/>
          </a:p>
        </p:txBody>
      </p:sp>
      <p:pic>
        <p:nvPicPr>
          <p:cNvPr descr="preencoded.png" id="165" name="Google Shape;16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5658" y="2279809"/>
            <a:ext cx="1041916" cy="153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/>
          <p:nvPr/>
        </p:nvSpPr>
        <p:spPr>
          <a:xfrm>
            <a:off x="7570113" y="2488168"/>
            <a:ext cx="2604730" cy="32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050"/>
              <a:buFont typeface="Outfit ExtraBold"/>
              <a:buNone/>
            </a:pPr>
            <a:r>
              <a:rPr b="1" i="0" lang="en-US" sz="20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Mood Matching</a:t>
            </a:r>
            <a:endParaRPr b="0" i="0" sz="2050" u="none" cap="none" strike="noStrike"/>
          </a:p>
        </p:txBody>
      </p:sp>
      <p:sp>
        <p:nvSpPr>
          <p:cNvPr id="167" name="Google Shape;167;p9"/>
          <p:cNvSpPr/>
          <p:nvPr/>
        </p:nvSpPr>
        <p:spPr>
          <a:xfrm>
            <a:off x="7570113" y="2938820"/>
            <a:ext cx="6331029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Features like energy, tempo, valence often match human-perceived mood</a:t>
            </a:r>
            <a:endParaRPr b="0" i="0" sz="1600" u="none" cap="none" strike="noStrike"/>
          </a:p>
        </p:txBody>
      </p:sp>
      <p:pic>
        <p:nvPicPr>
          <p:cNvPr descr="preencoded.png" id="168" name="Google Shape;1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658" y="3813929"/>
            <a:ext cx="1041916" cy="12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/>
          <p:nvPr/>
        </p:nvSpPr>
        <p:spPr>
          <a:xfrm>
            <a:off x="7570113" y="4022288"/>
            <a:ext cx="2604730" cy="32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050"/>
              <a:buFont typeface="Outfit ExtraBold"/>
              <a:buNone/>
            </a:pPr>
            <a:r>
              <a:rPr b="1" i="0" lang="en-US" sz="20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Style Recognition</a:t>
            </a:r>
            <a:endParaRPr b="0" i="0" sz="2050" u="none" cap="none" strike="noStrike"/>
          </a:p>
        </p:txBody>
      </p:sp>
      <p:sp>
        <p:nvSpPr>
          <p:cNvPr id="170" name="Google Shape;170;p9"/>
          <p:cNvSpPr/>
          <p:nvPr/>
        </p:nvSpPr>
        <p:spPr>
          <a:xfrm>
            <a:off x="7570113" y="4472940"/>
            <a:ext cx="63310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Acousticness and instrumentalness help surface stylistic similarities</a:t>
            </a:r>
            <a:endParaRPr b="0" i="0" sz="1600" u="none" cap="none" strike="noStrike"/>
          </a:p>
        </p:txBody>
      </p:sp>
      <p:pic>
        <p:nvPicPr>
          <p:cNvPr descr="preencoded.png" id="171" name="Google Shape;17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658" y="5064204"/>
            <a:ext cx="1041916" cy="12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7570113" y="5272564"/>
            <a:ext cx="2604730" cy="32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050"/>
              <a:buFont typeface="Outfit ExtraBold"/>
              <a:buNone/>
            </a:pPr>
            <a:r>
              <a:rPr b="1" i="0" lang="en-US" sz="20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Missing Context</a:t>
            </a:r>
            <a:endParaRPr b="0" i="0" sz="2050" u="none" cap="none" strike="noStrike"/>
          </a:p>
        </p:txBody>
      </p:sp>
      <p:sp>
        <p:nvSpPr>
          <p:cNvPr id="173" name="Google Shape;173;p9"/>
          <p:cNvSpPr/>
          <p:nvPr/>
        </p:nvSpPr>
        <p:spPr>
          <a:xfrm>
            <a:off x="7570113" y="5723215"/>
            <a:ext cx="63310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However, no awareness of lyrics, language, genre or cultural context</a:t>
            </a:r>
            <a:endParaRPr b="0" i="0" sz="1600" u="none" cap="none" strike="noStrike"/>
          </a:p>
        </p:txBody>
      </p:sp>
      <p:pic>
        <p:nvPicPr>
          <p:cNvPr descr="preencoded.png" id="174" name="Google Shape;17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658" y="6314480"/>
            <a:ext cx="1041916" cy="12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7570113" y="6522839"/>
            <a:ext cx="2604730" cy="32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050"/>
              <a:buFont typeface="Outfit ExtraBold"/>
              <a:buNone/>
            </a:pPr>
            <a:r>
              <a:rPr b="1" i="0" lang="en-US" sz="20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Compensation</a:t>
            </a:r>
            <a:endParaRPr b="0" i="0" sz="2050" u="none" cap="none" strike="noStrike"/>
          </a:p>
        </p:txBody>
      </p:sp>
      <p:sp>
        <p:nvSpPr>
          <p:cNvPr id="176" name="Google Shape;176;p9"/>
          <p:cNvSpPr/>
          <p:nvPr/>
        </p:nvSpPr>
        <p:spPr>
          <a:xfrm>
            <a:off x="7570113" y="6973491"/>
            <a:ext cx="63310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Weighting features helps compensate for these gaps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55174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/>
          <p:nvPr/>
        </p:nvSpPr>
        <p:spPr>
          <a:xfrm>
            <a:off x="714494" y="3113127"/>
            <a:ext cx="5225534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000"/>
              <a:buFont typeface="Outfit ExtraBold"/>
              <a:buNone/>
            </a:pPr>
            <a:r>
              <a:rPr b="1" i="0" lang="en-US" sz="40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Is KMeans a Good Fit?</a:t>
            </a:r>
            <a:endParaRPr b="0" i="0" sz="4000" u="none" cap="none" strike="noStrike"/>
          </a:p>
        </p:txBody>
      </p:sp>
      <p:sp>
        <p:nvSpPr>
          <p:cNvPr id="184" name="Google Shape;184;p10"/>
          <p:cNvSpPr/>
          <p:nvPr/>
        </p:nvSpPr>
        <p:spPr>
          <a:xfrm>
            <a:off x="714494" y="4057174"/>
            <a:ext cx="13201412" cy="2362200"/>
          </a:xfrm>
          <a:prstGeom prst="roundRect">
            <a:avLst>
              <a:gd fmla="val 363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722114" y="4064794"/>
            <a:ext cx="13186172" cy="58674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926187" y="4194810"/>
            <a:ext cx="6181130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Pros</a:t>
            </a:r>
            <a:endParaRPr b="0" i="0" sz="1600" u="none" cap="none" strike="noStrike"/>
          </a:p>
        </p:txBody>
      </p:sp>
      <p:sp>
        <p:nvSpPr>
          <p:cNvPr id="187" name="Google Shape;187;p10"/>
          <p:cNvSpPr/>
          <p:nvPr/>
        </p:nvSpPr>
        <p:spPr>
          <a:xfrm>
            <a:off x="7523083" y="4194810"/>
            <a:ext cx="6181130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Cons</a:t>
            </a:r>
            <a:endParaRPr b="0" i="0" sz="1600" u="none" cap="none" strike="noStrike"/>
          </a:p>
        </p:txBody>
      </p:sp>
      <p:sp>
        <p:nvSpPr>
          <p:cNvPr id="188" name="Google Shape;188;p10"/>
          <p:cNvSpPr/>
          <p:nvPr/>
        </p:nvSpPr>
        <p:spPr>
          <a:xfrm>
            <a:off x="722114" y="4651534"/>
            <a:ext cx="13186172" cy="58674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926187" y="4781550"/>
            <a:ext cx="6181130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Fast and easy to implement</a:t>
            </a:r>
            <a:endParaRPr b="0" i="0" sz="1600" u="none" cap="none" strike="noStrike"/>
          </a:p>
        </p:txBody>
      </p:sp>
      <p:sp>
        <p:nvSpPr>
          <p:cNvPr id="190" name="Google Shape;190;p10"/>
          <p:cNvSpPr/>
          <p:nvPr/>
        </p:nvSpPr>
        <p:spPr>
          <a:xfrm>
            <a:off x="7523083" y="4781550"/>
            <a:ext cx="6181130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Assumes equal-sized, spherical clusters</a:t>
            </a:r>
            <a:endParaRPr b="0" i="0" sz="1600" u="none" cap="none" strike="noStrike"/>
          </a:p>
        </p:txBody>
      </p:sp>
      <p:sp>
        <p:nvSpPr>
          <p:cNvPr id="191" name="Google Shape;191;p10"/>
          <p:cNvSpPr/>
          <p:nvPr/>
        </p:nvSpPr>
        <p:spPr>
          <a:xfrm>
            <a:off x="722114" y="5238274"/>
            <a:ext cx="13186172" cy="58674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926187" y="5368290"/>
            <a:ext cx="6181130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Interpretable and tunable</a:t>
            </a:r>
            <a:endParaRPr b="0" i="0" sz="1600" u="none" cap="none" strike="noStrike"/>
          </a:p>
        </p:txBody>
      </p:sp>
      <p:sp>
        <p:nvSpPr>
          <p:cNvPr id="193" name="Google Shape;193;p10"/>
          <p:cNvSpPr/>
          <p:nvPr/>
        </p:nvSpPr>
        <p:spPr>
          <a:xfrm>
            <a:off x="7523083" y="5368290"/>
            <a:ext cx="6181130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No soft membership (e.g., songs in multiple playlists)</a:t>
            </a:r>
            <a:endParaRPr b="0" i="0" sz="1600" u="none" cap="none" strike="noStrike"/>
          </a:p>
        </p:txBody>
      </p:sp>
      <p:sp>
        <p:nvSpPr>
          <p:cNvPr id="194" name="Google Shape;194;p10"/>
          <p:cNvSpPr/>
          <p:nvPr/>
        </p:nvSpPr>
        <p:spPr>
          <a:xfrm>
            <a:off x="722114" y="5825014"/>
            <a:ext cx="13186172" cy="58674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926187" y="5955030"/>
            <a:ext cx="6181130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Enhanced with feature weighting and size constraints</a:t>
            </a:r>
            <a:endParaRPr b="0" i="0" sz="1600" u="none" cap="none" strike="noStrike"/>
          </a:p>
        </p:txBody>
      </p:sp>
      <p:sp>
        <p:nvSpPr>
          <p:cNvPr id="196" name="Google Shape;196;p10"/>
          <p:cNvSpPr/>
          <p:nvPr/>
        </p:nvSpPr>
        <p:spPr>
          <a:xfrm>
            <a:off x="7523083" y="5955030"/>
            <a:ext cx="6181130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97" name="Google Shape;197;p10"/>
          <p:cNvSpPr/>
          <p:nvPr/>
        </p:nvSpPr>
        <p:spPr>
          <a:xfrm>
            <a:off x="714494" y="6725483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000"/>
              <a:buFont typeface="Outfit ExtraBold"/>
              <a:buNone/>
            </a:pPr>
            <a:r>
              <a:rPr b="1" i="0" lang="en-US" sz="20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Verdict:</a:t>
            </a:r>
            <a:endParaRPr b="0" i="0" sz="2000" u="none" cap="none" strike="noStrike"/>
          </a:p>
        </p:txBody>
      </p:sp>
      <p:sp>
        <p:nvSpPr>
          <p:cNvPr id="198" name="Google Shape;198;p10"/>
          <p:cNvSpPr/>
          <p:nvPr/>
        </p:nvSpPr>
        <p:spPr>
          <a:xfrm>
            <a:off x="714494" y="7350443"/>
            <a:ext cx="13201412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With weighted features and constrained sizing, KMeans becomes a practical and human-aligned solution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4" name="Google Shape;2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/>
          <p:nvPr/>
        </p:nvSpPr>
        <p:spPr>
          <a:xfrm>
            <a:off x="6280190" y="215574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Next Steps</a:t>
            </a:r>
            <a:endParaRPr b="0" i="0" sz="4450" u="none" cap="none" strike="noStrike"/>
          </a:p>
        </p:txBody>
      </p:sp>
      <p:sp>
        <p:nvSpPr>
          <p:cNvPr id="206" name="Google Shape;206;p11"/>
          <p:cNvSpPr/>
          <p:nvPr/>
        </p:nvSpPr>
        <p:spPr>
          <a:xfrm>
            <a:off x="6280190" y="320468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Use UMAP/t-SNE for visualizing clusters</a:t>
            </a:r>
            <a:endParaRPr b="0" i="0" sz="1750" u="none" cap="none" strike="noStrike"/>
          </a:p>
        </p:txBody>
      </p:sp>
      <p:sp>
        <p:nvSpPr>
          <p:cNvPr id="207" name="Google Shape;207;p11"/>
          <p:cNvSpPr/>
          <p:nvPr/>
        </p:nvSpPr>
        <p:spPr>
          <a:xfrm>
            <a:off x="6280190" y="3822740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Incorporate genre tags, lyrics, or user preferences</a:t>
            </a:r>
            <a:endParaRPr b="0" i="0" sz="1750" u="none" cap="none" strike="noStrike"/>
          </a:p>
        </p:txBody>
      </p:sp>
      <p:sp>
        <p:nvSpPr>
          <p:cNvPr id="208" name="Google Shape;208;p11"/>
          <p:cNvSpPr/>
          <p:nvPr/>
        </p:nvSpPr>
        <p:spPr>
          <a:xfrm>
            <a:off x="6280190" y="4440793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Explore soft clustering (e.g., GMM)</a:t>
            </a:r>
            <a:endParaRPr b="0" i="0" sz="1750" u="none" cap="none" strike="noStrike"/>
          </a:p>
        </p:txBody>
      </p:sp>
      <p:sp>
        <p:nvSpPr>
          <p:cNvPr id="209" name="Google Shape;209;p11"/>
          <p:cNvSpPr/>
          <p:nvPr/>
        </p:nvSpPr>
        <p:spPr>
          <a:xfrm>
            <a:off x="6551652" y="5693807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6280190" y="5693807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/>
          <p:nvPr/>
        </p:nvSpPr>
        <p:spPr>
          <a:xfrm>
            <a:off x="793790" y="124003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Final Thought</a:t>
            </a:r>
            <a:endParaRPr b="0" i="0" sz="4450" u="none" cap="none" strike="noStrike"/>
          </a:p>
        </p:txBody>
      </p:sp>
      <p:pic>
        <p:nvPicPr>
          <p:cNvPr descr="preencoded.png" id="218" name="Google Shape;2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288977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/>
          <p:nvPr/>
        </p:nvSpPr>
        <p:spPr>
          <a:xfrm>
            <a:off x="2268022" y="2515791"/>
            <a:ext cx="313265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Beyond Data Clustering</a:t>
            </a:r>
            <a:endParaRPr b="0" i="0" sz="2200" u="none" cap="none" strike="noStrike"/>
          </a:p>
        </p:txBody>
      </p:sp>
      <p:sp>
        <p:nvSpPr>
          <p:cNvPr id="220" name="Google Shape;220;p12"/>
          <p:cNvSpPr/>
          <p:nvPr/>
        </p:nvSpPr>
        <p:spPr>
          <a:xfrm>
            <a:off x="2268022" y="3006209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Smart playlists aren't just about clustering data</a:t>
            </a:r>
            <a:endParaRPr b="0" i="0" sz="1750" u="none" cap="none" strike="noStrike"/>
          </a:p>
        </p:txBody>
      </p:sp>
      <p:pic>
        <p:nvPicPr>
          <p:cNvPr descr="preencoded.png" id="221" name="Google Shape;22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649861"/>
            <a:ext cx="1134070" cy="166985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/>
          <p:nvPr/>
        </p:nvSpPr>
        <p:spPr>
          <a:xfrm>
            <a:off x="2268022" y="387667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Human Perception</a:t>
            </a:r>
            <a:endParaRPr b="0" i="0" sz="2200" u="none" cap="none" strike="noStrike"/>
          </a:p>
        </p:txBody>
      </p:sp>
      <p:sp>
        <p:nvSpPr>
          <p:cNvPr id="223" name="Google Shape;223;p12"/>
          <p:cNvSpPr/>
          <p:nvPr/>
        </p:nvSpPr>
        <p:spPr>
          <a:xfrm>
            <a:off x="2268022" y="4367093"/>
            <a:ext cx="608218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They're about mimicking how humans perceive, group, and enjoy music</a:t>
            </a:r>
            <a:endParaRPr b="0" i="0" sz="1750" u="none" cap="none" strike="noStrike"/>
          </a:p>
        </p:txBody>
      </p:sp>
      <p:pic>
        <p:nvPicPr>
          <p:cNvPr descr="preencoded.png" id="224" name="Google Shape;22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5319713"/>
            <a:ext cx="1134070" cy="166985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/>
          <p:nvPr/>
        </p:nvSpPr>
        <p:spPr>
          <a:xfrm>
            <a:off x="2268022" y="5546527"/>
            <a:ext cx="290179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Human-Like Listening</a:t>
            </a:r>
            <a:endParaRPr b="0" i="0" sz="2200" u="none" cap="none" strike="noStrike"/>
          </a:p>
        </p:txBody>
      </p:sp>
      <p:sp>
        <p:nvSpPr>
          <p:cNvPr id="226" name="Google Shape;226;p12"/>
          <p:cNvSpPr/>
          <p:nvPr/>
        </p:nvSpPr>
        <p:spPr>
          <a:xfrm>
            <a:off x="2268022" y="6036945"/>
            <a:ext cx="608218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Weighted features helped us teach the algorithm to "listen like a human"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39b3e0db6_0_25"/>
          <p:cNvSpPr/>
          <p:nvPr/>
        </p:nvSpPr>
        <p:spPr>
          <a:xfrm>
            <a:off x="3094650" y="5187850"/>
            <a:ext cx="2389500" cy="261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g3539b3e0db6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025" y="1121725"/>
            <a:ext cx="13210649" cy="6681775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4" name="Google Shape;234;g3539b3e0db6_0_25"/>
          <p:cNvSpPr txBox="1"/>
          <p:nvPr/>
        </p:nvSpPr>
        <p:spPr>
          <a:xfrm>
            <a:off x="1942175" y="148125"/>
            <a:ext cx="118671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lang="en-US" sz="4450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First step of clustering: using Inertia score</a:t>
            </a:r>
            <a:endParaRPr b="1" sz="445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35" name="Google Shape;235;g3539b3e0db6_0_25"/>
          <p:cNvSpPr/>
          <p:nvPr/>
        </p:nvSpPr>
        <p:spPr>
          <a:xfrm>
            <a:off x="2979000" y="5090525"/>
            <a:ext cx="2049000" cy="2615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3539b3e0db6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00" y="1007500"/>
            <a:ext cx="13885477" cy="685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539b3e0db6_0_30"/>
          <p:cNvSpPr txBox="1"/>
          <p:nvPr/>
        </p:nvSpPr>
        <p:spPr>
          <a:xfrm>
            <a:off x="1004025" y="0"/>
            <a:ext cx="128712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50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First step of clustering: using Silhouette score</a:t>
            </a:r>
            <a:endParaRPr b="1" sz="445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43" name="Google Shape;243;g3539b3e0db6_0_30"/>
          <p:cNvSpPr/>
          <p:nvPr/>
        </p:nvSpPr>
        <p:spPr>
          <a:xfrm>
            <a:off x="2656525" y="2183550"/>
            <a:ext cx="2049000" cy="552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539b3e0db6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25" y="822875"/>
            <a:ext cx="13706574" cy="7192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539b3e0db6_0_35"/>
          <p:cNvSpPr txBox="1"/>
          <p:nvPr/>
        </p:nvSpPr>
        <p:spPr>
          <a:xfrm>
            <a:off x="264450" y="0"/>
            <a:ext cx="14101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50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Finding n of clusters for K-Means constrained (Inertia)</a:t>
            </a:r>
            <a:endParaRPr b="1" sz="425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51" name="Google Shape;251;g3539b3e0db6_0_35"/>
          <p:cNvSpPr/>
          <p:nvPr/>
        </p:nvSpPr>
        <p:spPr>
          <a:xfrm>
            <a:off x="1488375" y="4087250"/>
            <a:ext cx="7436400" cy="3376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539b3e0db6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325" y="1012350"/>
            <a:ext cx="13031749" cy="70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539b3e0db6_0_40"/>
          <p:cNvSpPr txBox="1"/>
          <p:nvPr/>
        </p:nvSpPr>
        <p:spPr>
          <a:xfrm>
            <a:off x="0" y="0"/>
            <a:ext cx="16195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50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Finding n of clusters for K-Means constrained (Silhouette)</a:t>
            </a:r>
            <a:endParaRPr b="1" sz="425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59" name="Google Shape;259;g3539b3e0db6_0_40"/>
          <p:cNvSpPr/>
          <p:nvPr/>
        </p:nvSpPr>
        <p:spPr>
          <a:xfrm>
            <a:off x="4460675" y="1941300"/>
            <a:ext cx="2049000" cy="552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539b3e0db6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3225" y="258875"/>
            <a:ext cx="10180701" cy="765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539b3e0db6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400" y="152400"/>
            <a:ext cx="12136899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g3539b3e0db6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325601" cy="79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539b3e0db6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325601" cy="778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3539b3e0db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325601" cy="78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2025-05-02T08:15:32.0000000Z</dcterms:created>
  <dc:creator>PptxGenJS</dc:creator>
</cp:coreProperties>
</file>